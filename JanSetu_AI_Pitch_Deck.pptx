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2926080" cy="411480"/>
          </a:xfrm>
          <a:prstGeom prst="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CIVIC TECH &amp; DIGITAL PUBLIC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JanSetu AI (जनसेतु)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t>Multimodal AI-Powered Citizen Grievance Redressal &amp; Municipal Triage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3383280" cy="2011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🗣️ Multilingual Voice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Citizen reporting in 10+ regional Indian languages with auto-transcription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3474720"/>
            <a:ext cx="3383280" cy="2011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⚡ Gemini 1.5 Flash Triage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Instant priority classification, department routing, and work order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474720"/>
            <a:ext cx="3383280" cy="2011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📍 1-Click Reverse Geocoding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OpenStreetMap Nominatim GPS location integration with zero manual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Full Stack: Next.js 15 (React 19) • Google Gemini API • Cloud Firestore • Tailwind CSS | Open Source &amp; Deployable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01 /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Problem: Why Existing Civic Portals Fail Citizens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01. Bureaucratic Jargon &amp; Department Silos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Citizens don't know whether a waterlogged road belongs to the PWD, Sewerage Board, or Municipal Roads Dept. Forms demand complex jurisdiction selections that cause 60%+ drop-off.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02. No Multilingual or Voice Access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India speaks hundreds of dialects. 70%+ of grassroots citizens struggle with complex typed English forms, leaving non-English speaking citizens disenfranchised.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03. Black-Hole Grievance Redressal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Complaints disappear without realistic time commitments or transparent status updates. Lack of SLA tracking leads to citizen apathy and repeated escalations.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04. Unstructured Municipal Backlog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Municipal officers receive vague complaints ('water problem here') without priority categorization, coordinates, or structured engineering specifications.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02 / PRODUCT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JanSetu AI Citizen-to-Admin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Natural Language Ingestion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Speak or type in everyday colloquial speech (e.g., 'Heavy pothole near bus stand, people falling'). No technical terminology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Gemini AI Triage Engine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Instant server-side analysis parsing category, priority (LOW to CRITICAL), exact municipal department, and missing location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Actionable Work Orders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Transforms raw citizen complaints into structured municipal engineering tickets with recommended actions and SLA deadlines.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FB923C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Live 4-Stage Redressal Stepper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Transparent public progression: Reported ➔ Assigned ➔ In Progress ➔ Resolved with inspector notes and timestamps.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03 /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Innovation: Google Gemini AI Triage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Strict JSON Schema Structured Output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Gemini 1.5 Flash produces deterministic JSON adhering to a strict municipal taxonomy:</a:t>
            </a:r>
          </a:p>
          <a:p>
            <a:pPr>
              <a:spcBef>
                <a:spcPts val="1000"/>
              </a:spcBef>
              <a:defRPr sz="1100">
                <a:solidFill>
                  <a:srgbClr val="34D399"/>
                </a:solidFill>
              </a:defRPr>
            </a:pPr>
            <a:r>
              <a:t>{</a:t>
            </a:r>
            <a:br/>
            <a:r>
              <a:t>  "category": "ROADS",</a:t>
            </a:r>
            <a:br/>
            <a:r>
              <a:t>  "issue": "Pothole &amp; Damaged Road Surface",</a:t>
            </a:r>
            <a:br/>
            <a:r>
              <a:t>  "priority": "HIGH",</a:t>
            </a:r>
            <a:br/>
            <a:r>
              <a:t>  "department": "Municipal Roads &amp; Infrastructure",</a:t>
            </a:r>
            <a:br/>
            <a:r>
              <a:t>  "summary": "Deep pothole causing vehicular hazard...",</a:t>
            </a:r>
            <a:br/>
            <a:r>
              <a:t>  "recommendedAction": "Immediate cold-mix bitumen patch",</a:t>
            </a:r>
            <a:br/>
            <a:r>
              <a:t>  "locationRequired": false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defRPr sz="1600" b="1">
                <a:solidFill>
                  <a:srgbClr val="FB923C"/>
                </a:solidFill>
              </a:defRPr>
            </a:pPr>
            <a:r>
              <a:t>4-Fold AI Triage Intelligence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1. Dynamic Categorization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Maps to 8 civic categories (Roads, Water, Sanitation, Electricity, Streetlights, Drainage, Public Safety, Other).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2. Real-Time Severity Classification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CRITICAL (exposed live wire, open manhole), HIGH (deep road crater), MEDIUM (non-functioning lamp), LOW (minor litter).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3. Automated Department Dispatch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Directly binds to responsible local bodies (e.g. Water Supply &amp; Sewerage Board, Discoms, Solid Waste Management).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4. Zero-Crash Civic Heuristic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If Gemini API key is missing or quota exhausted, built-in algorithmic NLP rule-engine handles triage without 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04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End-to-End Civic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Layer 1: Citizen Interface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Next.js 15 App Router &amp; React 19 UI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Web Speech API (Multilingual Voice)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OpenStreetMap Nominatim Geocoder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Photo capture &amp; local image previews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Layer 2: AI Triage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Serverless Edge/Node Route Handlers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Google Gemini 1.5 Flash (@google/generative-ai)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JSON schema validation &amp; sanitizer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Resilient Heuristic Fallback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Layer 3: Storage &amp; Persistence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Dual-Mode Database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Google Firebase Cloud Firestore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Firebase Storage (Photo evidence)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LocalStorage zero-config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Layer 4: Administrative Portal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Role-based login (Citizen vs Officer)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Real-time Firestore onSnapshot sync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1-Click Status transitions (4-Stage)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National Open Data KPI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05 / CITIZEN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Citizen Experience: Inclusive, Transparent &amp; Fast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Multilingual Voice Input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Citizens speak in Hindi, Bengali, Tamil, Telugu, Marathi, Gujarati, or English. Audio is converted into text and normalized for government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1-Click Demo Scenarios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Instant 1-click test presets (pothole near college, overflowing market garbage, burst water main) enabling 2-minute judge &amp; jury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Transparent 4-Stage Stepper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Visual progress bar tracking: Reported ➔ Assigned ➔ In Progress ➔ Resolved with officer notes, timestamps, and work tickets.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Citizen Authentication Gate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Lightweight Phone OTP &amp; Email authentication adhering to National Digital Public Good standards to prevent spam while protecting citizen identity.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06 / ADMINISTRATION &amp; OPEN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Municipal Portal &amp; National Open Data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Triage &amp; Dispatch Desk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Filter complaints by Category, Priority, and Status. Municipal operators reassign and update work order statuses with live citizen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National Open Data Integration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Cross-references live grievance rates with data.gov.in infrastructure benchmarks, ISRO/Bhuvan satellite GIS, and IMD monsoon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Ward Vulnerability Heatmaps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Aggregates grievance density across wards (e.g. Ward 12 drainage vs Ward 7 road repairs) to guide resource allocation.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749039"/>
            <a:ext cx="521208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1-Click 8 Indian Grievance Seeder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Built-in database seeder populating realistic civic records for instant demonstration across Indian metropolitan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07 /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 Stack &amp; Engineering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Frontend &amp; SSR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Next.js 15 (App Router)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React 19 &amp; TypeScript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Tailwind CSS 3.4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Dark Mode &amp; Responsive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AI / ML Engine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Google Gemini 1.5 Flash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@google/generative-ai SDK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Strict JSON Schema Mode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Resilient Heuristic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Database &amp; Cloud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Google Firebase Firestore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Firebase Cloud Storage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Dual-Mode Reactive Fallback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Edge API Route Handlers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4389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APIs &amp; Infrastructure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OpenStreetMap Nominatim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Web Speech Recognition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Vercel Edge Network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• CI/CD Zero-Warning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08 / 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Impact &amp; Digital Public Good (DPG)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75% Faster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Reduction in grievance triage time (Instant AI vs 3-5 days manual clerical sorting)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100% Transparent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Full public accountability with 4-stage tracking and verifiable grievance 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10+ Languages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Eliminates linguistic barriers across Hindi, Bengali, Tamil, Telugu, Marathi,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463040"/>
            <a:ext cx="2560320" cy="210312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Zero Setup Friction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Dual-mode storage operates out of the box with zero database bottlenecks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500" b="1">
                <a:solidFill>
                  <a:srgbClr val="FB923C"/>
                </a:solidFill>
              </a:defRPr>
            </a:pPr>
            <a:r>
              <a:t>Strategic Roadmap &amp; Future Integrations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1. WhatsApp &amp; Telegram Chatbot: Submit voice memos and photos directly from messaging apps.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2. Computer Vision Severity Scoring: Image model to quantify pothole depth or garbage volume in metric units.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3. Integration with CPGRAMS &amp; State Portals: Bi-directional sync with central and state administrative portals.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• 4. Automated Contractor SLA Penalties: Smart contract tracking to flag municipal contractor resolution delays.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Summary: Ready for Deployment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94360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FB923C"/>
                </a:solidFill>
              </a:defRPr>
            </a:pPr>
            <a:r>
              <a:t>🎯 2-Minute Jury Demo Script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1. Report Page (/report)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Click 'Deep Pothole outside College Gate' preset. Click 'Analyze Complaint with Gemini AI'. Watch real-time AI triage categorize Category: ROADS, Priority: HIGH, and recommended bitumen patch.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2. Submit Grievance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Click 'Confirm &amp; Submit'. Get unique reference ID (e.g. JS-2026-XXXX).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3. Citizen Tracker (/complaints/[id])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Show 4-stage stepper: Reported ➔ Assigned ➔ In Progress ➔ Resolved.</a:t>
            </a:r>
          </a:p>
          <a:p>
            <a:pPr>
              <a:spcBef>
                <a:spcPts val="600"/>
              </a:spcBef>
              <a:defRPr sz="1200" b="1">
                <a:solidFill>
                  <a:srgbClr val="38BDF8"/>
                </a:solidFill>
              </a:defRPr>
            </a:pPr>
            <a:r>
              <a:t>4. Municipal Portal (/admin)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Switch to Admin, filter by HIGH priority, advance status to IN_PROGRESS. Switch back to citizen view to show instant real-time synchronization!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63040"/>
            <a:ext cx="4480560" cy="46634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Resume &amp; Portfolio Summary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Project: JanSetu AI (जनसेतु)</a:t>
            </a:r>
            <a:br/>
            <a:r>
              <a:t>Role: Full-Stack Developer &amp; AI Engineer</a:t>
            </a:r>
            <a:br/>
            <a:r>
              <a:t>Key Accomplishments:</a:t>
            </a:r>
            <a:br/>
            <a:r>
              <a:t>• Engineered multimodal civic grievance triage system using Gemini 1.5 Flash and Next.js 15.</a:t>
            </a:r>
            <a:br/>
            <a:r>
              <a:t>• Built dual-mode persistence (Cloud Firestore + zero-config client store) ensuring 100% demo availability.</a:t>
            </a:r>
            <a:br/>
            <a:r>
              <a:t>• Implemented multilingual voice input, GPS reverse geocoding, and 4-stage civic progress tracking.</a:t>
            </a:r>
            <a:br/>
            <a:r>
              <a:t>• Designed administrative portal with real-time KPI analytics and national open data benchmarks.</a:t>
            </a:r>
          </a:p>
          <a:p>
            <a:pPr>
              <a:spcBef>
                <a:spcPts val="1600"/>
              </a:spcBef>
              <a:defRPr sz="1400" b="1">
                <a:solidFill>
                  <a:srgbClr val="FB923C"/>
                </a:solidFill>
              </a:defRPr>
            </a:pPr>
            <a:r>
              <a:t>Thank you!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